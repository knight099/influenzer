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Brand Cost (INR)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7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7B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Influenzer</c:v>
                  </c:pt>
                  <c:pt idx="1">
                    <c:v>Winkl ~est.</c:v>
                  </c:pt>
                  <c:pt idx="2">
                    <c:v>Qoruz ~est.</c:v>
                  </c:pt>
                  <c:pt idx="3">
                    <c:v>Aspire</c:v>
                  </c:pt>
                  <c:pt idx="4">
                    <c:v>GRIN</c:v>
                  </c:pt>
                  <c:pt idx="5">
                    <c:v>Upfluence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5000</c:v>
                </c:pt>
                <c:pt idx="1">
                  <c:v>60000</c:v>
                </c:pt>
                <c:pt idx="2">
                  <c:v>120000</c:v>
                </c:pt>
                <c:pt idx="3">
                  <c:v>2000000</c:v>
                </c:pt>
                <c:pt idx="4">
                  <c:v>1500000</c:v>
                </c:pt>
                <c:pt idx="5">
                  <c:v>500000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D9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7B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Influencer Marketing Platform — Where Influenzer Wins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3657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₹3,375Cr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3456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by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3456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3456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 Mapped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Market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86968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2011680" cy="23774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258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3,375 Cr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199339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by 2026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(EY Report)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2011680" cy="23774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1097280"/>
            <a:ext cx="2011680" cy="64008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258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99339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growth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1097280"/>
            <a:ext cx="2011680" cy="23774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097280"/>
            <a:ext cx="2011680" cy="6400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13258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36592" y="199339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content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1097280"/>
            <a:ext cx="2011680" cy="23774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109728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13258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12864" y="1993392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brands seeking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2011680" cy="1188720"/>
          </a:xfrm>
          <a:prstGeom prst="rect">
            <a:avLst/>
          </a:prstGeom>
          <a:solidFill>
            <a:srgbClr val="13102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794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Boom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417880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Shorts dominating engagement across all demographics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50592" y="3703320"/>
            <a:ext cx="2011680" cy="1188720"/>
          </a:xfrm>
          <a:prstGeom prst="rect">
            <a:avLst/>
          </a:prstGeom>
          <a:solidFill>
            <a:srgbClr val="13102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3794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Brand Explosion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417880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increase in e-commerce conversions via creator-led campaigns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26864" y="3703320"/>
            <a:ext cx="2011680" cy="1188720"/>
          </a:xfrm>
          <a:prstGeom prst="rect">
            <a:avLst/>
          </a:prstGeom>
          <a:solidFill>
            <a:srgbClr val="13102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36592" y="3794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Nano-Influencer Rise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36592" y="417880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with 1K–10K followers get 3x more engagement than macro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03136" y="3703320"/>
            <a:ext cx="2011680" cy="1188720"/>
          </a:xfrm>
          <a:prstGeom prst="rect">
            <a:avLst/>
          </a:prstGeom>
          <a:solidFill>
            <a:srgbClr val="13102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12864" y="3794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Revenue Surge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12864" y="417880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affiliate revenue growing 71% YoY in India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86968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51560"/>
            <a:ext cx="4160520" cy="178308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783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61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Competitors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 ·  Plixxo (POPxo)  ·  FindInfluencer.in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model, India-focused, creator + brand sides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6400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61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SaaS Platforms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 ·  Winkl  ·  Kofluence  ·  OPA (Confluencr)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9204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discovery tools, brand-side subscriptions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64008" cy="178308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Agency-Platforms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Chtrbox  ·  Grynow  ·  Monk-E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model evolving into platforms; managed services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64008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Players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Aspire (AspireIQ)  ·  GRIN  ·  Upfluence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9204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USD pricing — too expensive for India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 competes primarily against Direct Competitors while differentiating from Indian SaaS tools with a full marketplace model.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Influish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Direct Competitor — Powered by Meta APIs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0" y="246888"/>
            <a:ext cx="1828800" cy="420624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468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HIGH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61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Onboarded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161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28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728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295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GMV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295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₹63L+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Raised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 (Bootstrapped)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only (Meta API)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95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(Brands)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+ access fee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Meta API integration — verified authentic metrics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18653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model attractive for creators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22677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campaign builder reduces brand effort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0" y="2670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OTP-backed contracts for legal protection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0" y="30723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portfolio reports for creators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only — misses YouTube creator economy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4334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pricing for brands (unclear access fee)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47365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wallet or transaction history feature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0" y="5138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messaging (communication gap)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55412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subscriber/subscription revenue model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Qoruz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Most Data-Rich Influencer SaaS Platform (Est. 2015, Bengaluru)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49440" y="246888"/>
            <a:ext cx="1828800" cy="420624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468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MED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61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1612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 Indian profiles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7282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7282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(10 yrs experience)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295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22951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Agencies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8620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28620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subscription (SaaS)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364992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Covered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YouTube, Twitter, LinkedIn, Blogs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3840480" cy="47548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995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Analytics-first, not marketplace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0" y="1097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7M+ creator database — India's most comprehensive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0" y="18653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analytics: audience language, geography, brand affinity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22677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enterprise brands and agencies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0" y="2670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 and media planning tools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0" y="30723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years of market experience and brand relationships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0" y="3566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0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creator marketplace — no proposal/bidding system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0" y="4334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escrow or payment infrastructure for creators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0" y="473659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creator-facing onboarding or mobile app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0" y="5138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 puts it out of reach for D2C startups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0" y="55412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l" indent="0" marL="0">
              <a:buNone/>
            </a:pPr>
            <a:r>
              <a:rPr lang="en-US" sz="10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in-app communication or campaign workflow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Indian Market — Other Notable Players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2788920" cy="39776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88920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24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Chtrbox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024128"/>
            <a:ext cx="749808" cy="292608"/>
          </a:xfrm>
          <a:prstGeom prst="rect">
            <a:avLst/>
          </a:prstGeom>
          <a:solidFill>
            <a:srgbClr val="0D0A1F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0241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8992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+ Platform (ChtrSocial)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18470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8992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 SME IPO — first listed influencer co. in India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hub; targeting international markets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61518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" y="2615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brands &amp; large D2C companies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306324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455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 influencer marketing company in India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4930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Two-pronged: Chtrbox + ChtrSocial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38404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 trust and enterprise relationships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1879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Agency-first, not a self-serve marketplace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048" y="44988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for smaller brands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480974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process for individual creators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914400"/>
            <a:ext cx="2788920" cy="39776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914400"/>
            <a:ext cx="2788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1024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Winkl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38928" y="1024128"/>
            <a:ext cx="749808" cy="292608"/>
          </a:xfrm>
          <a:prstGeom prst="rect">
            <a:avLst/>
          </a:prstGeom>
          <a:solidFill>
            <a:srgbClr val="0D0A1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10241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28416" y="14630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&amp; nano-influencer marketplace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18470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0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and regional brands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28416" y="22311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23360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benchmarking + ASCI compliance (2026)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28416" y="261518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23360" y="2615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— non-specialist friendly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28416" y="306324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3328416" y="31455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non-specialist brand managers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28416" y="34930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Niche/regional brand focus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28416" y="38404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 compliance tools (unique differentiator)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28416" y="41879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analytics depth vs Qoruz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28416" y="44988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escrow payment infrastructure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28416" y="480974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brand awareness vs established players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63056" y="914400"/>
            <a:ext cx="2788920" cy="397764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63056" y="914400"/>
            <a:ext cx="278892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72784" y="10241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Kofluence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83296" y="1024128"/>
            <a:ext cx="749808" cy="292608"/>
          </a:xfrm>
          <a:prstGeom prst="rect">
            <a:avLst/>
          </a:prstGeom>
          <a:solidFill>
            <a:srgbClr val="0D0A1F"/>
          </a:solidFill>
          <a:ln w="12700">
            <a:solidFill>
              <a:srgbClr val="9F67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83296" y="102412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72784" y="146304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967728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750K+ creator network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72784" y="18470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67728" y="18470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influencer marketing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272784" y="22311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67728" y="22311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Commission-based on campaigns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72784" y="261518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67728" y="2615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campaign execution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272784" y="306324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6272784" y="314553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creator network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272784" y="34930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managed model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72784" y="384048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 gaming &amp; esports niches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72784" y="41879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 — not self-serve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72784" y="4498848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brand-creator marketplace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272784" y="4809744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pricing model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Platforms — Present but Priced 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95528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platforms operate globally and are technically available in India — but their USD pricing and enterprise focus make them inaccessible for India's D2C brands and creators.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788920" cy="365760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788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Aspire (AspireIQ)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801368"/>
            <a:ext cx="100584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~$2,000/mo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762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relationship management, UGC, long-term partnerships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2788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application pages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Whitelisting &amp; UGC tracking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for influencer relationships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950208"/>
            <a:ext cx="2560320" cy="27432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40233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$24K+/yr — unaffordable for Indian SMBs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43342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INR support, no Indian payment rails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46451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India-specific features or support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18688" y="1298448"/>
            <a:ext cx="2788920" cy="365760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298448"/>
            <a:ext cx="278892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28416" y="1801368"/>
            <a:ext cx="100584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~$999–$2,500/mo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21762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e-commerce brands; Shopify/Magento integration; revenue tracking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28416" y="2788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28416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e-commerce integration (Shopify etc.)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28416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influencer activity to actual sales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28416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CRM-style influencer outreach automation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28416" y="3950208"/>
            <a:ext cx="2560320" cy="27432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28416" y="40233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Western DTC — poor India fit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28416" y="43342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Razorpay / UPI integration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28416" y="46451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language or market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63056" y="1298448"/>
            <a:ext cx="2788920" cy="365760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63056" y="1298448"/>
            <a:ext cx="2788920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84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Upfluence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72784" y="1801368"/>
            <a:ext cx="1005840" cy="274320"/>
          </a:xfrm>
          <a:prstGeom prst="rect">
            <a:avLst/>
          </a:prstGeom>
          <a:solidFill>
            <a:srgbClr val="0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2784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$478–$2,000+/mo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2784" y="21762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 creator database; real-time profile updates; customer influencer ID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2784" y="2788920"/>
            <a:ext cx="256032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272784" y="2871216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verified creator database globally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72784" y="321868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influential customers from own CRM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2784" y="3566160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algn="l" indent="0" marL="0">
              <a:buNone/>
            </a:pPr>
            <a:r>
              <a:rPr lang="en-US" sz="90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algorithm updates all profiles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72784" y="3950208"/>
            <a:ext cx="2560320" cy="27432"/>
          </a:xfrm>
          <a:prstGeom prst="rect">
            <a:avLst/>
          </a:prstGeom>
          <a:solidFill>
            <a:srgbClr val="FF6B6B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72784" y="402336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price ₹40K+/mo — too high for India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72784" y="433425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campaign escrow or payment features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72784" y="464515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algn="l" indent="0" marL="0">
              <a:buNone/>
            </a:pPr>
            <a:r>
              <a:rPr lang="en-US" sz="8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India-specific creator community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Comparison Matrix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16459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804672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" y="80467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0" y="804672"/>
            <a:ext cx="10972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2340864" y="804672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80467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9" name="Text 7"/>
          <p:cNvSpPr/>
          <p:nvPr/>
        </p:nvSpPr>
        <p:spPr>
          <a:xfrm>
            <a:off x="3438144" y="80467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80467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1" name="Text 9"/>
          <p:cNvSpPr/>
          <p:nvPr/>
        </p:nvSpPr>
        <p:spPr>
          <a:xfrm>
            <a:off x="4443984" y="80467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94960" y="80467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" name="Text 11"/>
          <p:cNvSpPr/>
          <p:nvPr/>
        </p:nvSpPr>
        <p:spPr>
          <a:xfrm>
            <a:off x="5449824" y="80467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Chtrbox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80467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80467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80467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7" name="Text 15"/>
          <p:cNvSpPr/>
          <p:nvPr/>
        </p:nvSpPr>
        <p:spPr>
          <a:xfrm>
            <a:off x="7461504" y="804672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188720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1188720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118872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118872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118872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118872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25" name="Text 23"/>
          <p:cNvSpPr/>
          <p:nvPr/>
        </p:nvSpPr>
        <p:spPr>
          <a:xfrm>
            <a:off x="237744" y="1188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Marketplace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40864" y="1188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38144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43984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9824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55664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61504" y="1188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82880" y="1572768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0" y="1572768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34" name="Shape 32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0" y="157276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6" name="Shape 34"/>
          <p:cNvSpPr/>
          <p:nvPr/>
        </p:nvSpPr>
        <p:spPr>
          <a:xfrm>
            <a:off x="5394960" y="157276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157276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6640" y="157276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" y="1572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Support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40864" y="15727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38144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443984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9824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55664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61504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82880" y="1956816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47" name="Shape 45"/>
          <p:cNvSpPr/>
          <p:nvPr/>
        </p:nvSpPr>
        <p:spPr>
          <a:xfrm>
            <a:off x="2286000" y="1956816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48" name="Shape 46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49" name="Shape 47"/>
          <p:cNvSpPr/>
          <p:nvPr/>
        </p:nvSpPr>
        <p:spPr>
          <a:xfrm>
            <a:off x="4389120" y="1956816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50" name="Shape 48"/>
          <p:cNvSpPr/>
          <p:nvPr/>
        </p:nvSpPr>
        <p:spPr>
          <a:xfrm>
            <a:off x="5394960" y="1956816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0800" y="1956816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52" name="Shape 50"/>
          <p:cNvSpPr/>
          <p:nvPr/>
        </p:nvSpPr>
        <p:spPr>
          <a:xfrm>
            <a:off x="7406640" y="1956816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53" name="Text 51"/>
          <p:cNvSpPr/>
          <p:nvPr/>
        </p:nvSpPr>
        <p:spPr>
          <a:xfrm>
            <a:off x="237744" y="1956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Support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340864" y="19568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438144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443984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49824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455664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461504" y="19568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182880" y="2340864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1" name="Shape 59"/>
          <p:cNvSpPr/>
          <p:nvPr/>
        </p:nvSpPr>
        <p:spPr>
          <a:xfrm>
            <a:off x="2286000" y="2340864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62" name="Shape 60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3" name="Shape 61"/>
          <p:cNvSpPr/>
          <p:nvPr/>
        </p:nvSpPr>
        <p:spPr>
          <a:xfrm>
            <a:off x="4389120" y="2340864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4" name="Shape 62"/>
          <p:cNvSpPr/>
          <p:nvPr/>
        </p:nvSpPr>
        <p:spPr>
          <a:xfrm>
            <a:off x="5394960" y="2340864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5" name="Shape 63"/>
          <p:cNvSpPr/>
          <p:nvPr/>
        </p:nvSpPr>
        <p:spPr>
          <a:xfrm>
            <a:off x="6400800" y="2340864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6" name="Shape 64"/>
          <p:cNvSpPr/>
          <p:nvPr/>
        </p:nvSpPr>
        <p:spPr>
          <a:xfrm>
            <a:off x="7406640" y="2340864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67" name="Text 65"/>
          <p:cNvSpPr/>
          <p:nvPr/>
        </p:nvSpPr>
        <p:spPr>
          <a:xfrm>
            <a:off x="237744" y="234086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/ Bidding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340864" y="23408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438144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443984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49824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455664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461504" y="2340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82880" y="2724912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75" name="Shape 73"/>
          <p:cNvSpPr/>
          <p:nvPr/>
        </p:nvSpPr>
        <p:spPr>
          <a:xfrm>
            <a:off x="2286000" y="2724912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76" name="Shape 74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77" name="Shape 75"/>
          <p:cNvSpPr/>
          <p:nvPr/>
        </p:nvSpPr>
        <p:spPr>
          <a:xfrm>
            <a:off x="4389120" y="272491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78" name="Shape 76"/>
          <p:cNvSpPr/>
          <p:nvPr/>
        </p:nvSpPr>
        <p:spPr>
          <a:xfrm>
            <a:off x="5394960" y="272491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79" name="Shape 77"/>
          <p:cNvSpPr/>
          <p:nvPr/>
        </p:nvSpPr>
        <p:spPr>
          <a:xfrm>
            <a:off x="6400800" y="272491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80" name="Shape 78"/>
          <p:cNvSpPr/>
          <p:nvPr/>
        </p:nvSpPr>
        <p:spPr>
          <a:xfrm>
            <a:off x="7406640" y="2724912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81" name="Text 79"/>
          <p:cNvSpPr/>
          <p:nvPr/>
        </p:nvSpPr>
        <p:spPr>
          <a:xfrm>
            <a:off x="237744" y="27249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Payments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2340864" y="27249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438144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4443984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5449824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455664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7461504" y="27249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182880" y="3108960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89" name="Shape 87"/>
          <p:cNvSpPr/>
          <p:nvPr/>
        </p:nvSpPr>
        <p:spPr>
          <a:xfrm>
            <a:off x="2286000" y="3108960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90" name="Shape 88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91" name="Shape 89"/>
          <p:cNvSpPr/>
          <p:nvPr/>
        </p:nvSpPr>
        <p:spPr>
          <a:xfrm>
            <a:off x="4389120" y="3108960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92" name="Shape 90"/>
          <p:cNvSpPr/>
          <p:nvPr/>
        </p:nvSpPr>
        <p:spPr>
          <a:xfrm>
            <a:off x="5394960" y="3108960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93" name="Shape 91"/>
          <p:cNvSpPr/>
          <p:nvPr/>
        </p:nvSpPr>
        <p:spPr>
          <a:xfrm>
            <a:off x="6400800" y="3108960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94" name="Shape 92"/>
          <p:cNvSpPr/>
          <p:nvPr/>
        </p:nvSpPr>
        <p:spPr>
          <a:xfrm>
            <a:off x="7406640" y="3108960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95" name="Text 93"/>
          <p:cNvSpPr/>
          <p:nvPr/>
        </p:nvSpPr>
        <p:spPr>
          <a:xfrm>
            <a:off x="237744" y="31089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Tx History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340864" y="3108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7" name="Text 95"/>
          <p:cNvSpPr/>
          <p:nvPr/>
        </p:nvSpPr>
        <p:spPr>
          <a:xfrm>
            <a:off x="3438144" y="3108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8" name="Text 96"/>
          <p:cNvSpPr/>
          <p:nvPr/>
        </p:nvSpPr>
        <p:spPr>
          <a:xfrm>
            <a:off x="4443984" y="3108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5449824" y="3108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6455664" y="3108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7461504" y="31089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182880" y="3493008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286000" y="3493008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389120" y="3493008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94960" y="3493008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400800" y="3493008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7406640" y="3493008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09" name="Text 107"/>
          <p:cNvSpPr/>
          <p:nvPr/>
        </p:nvSpPr>
        <p:spPr>
          <a:xfrm>
            <a:off x="237744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2340864" y="3493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3438144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4443984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3" name="Text 111"/>
          <p:cNvSpPr/>
          <p:nvPr/>
        </p:nvSpPr>
        <p:spPr>
          <a:xfrm>
            <a:off x="5449824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6455664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7461504" y="34930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182880" y="3877056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286000" y="3877056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389120" y="3877056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394960" y="3877056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21" name="Shape 119"/>
          <p:cNvSpPr/>
          <p:nvPr/>
        </p:nvSpPr>
        <p:spPr>
          <a:xfrm>
            <a:off x="6400800" y="3877056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406640" y="3877056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23" name="Text 121"/>
          <p:cNvSpPr/>
          <p:nvPr/>
        </p:nvSpPr>
        <p:spPr>
          <a:xfrm>
            <a:off x="237744" y="38770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Subscriptions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2340864" y="38770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5" name="Text 123"/>
          <p:cNvSpPr/>
          <p:nvPr/>
        </p:nvSpPr>
        <p:spPr>
          <a:xfrm>
            <a:off x="3438144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6" name="Text 124"/>
          <p:cNvSpPr/>
          <p:nvPr/>
        </p:nvSpPr>
        <p:spPr>
          <a:xfrm>
            <a:off x="4443984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5449824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6455664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29" name="Text 127"/>
          <p:cNvSpPr/>
          <p:nvPr/>
        </p:nvSpPr>
        <p:spPr>
          <a:xfrm>
            <a:off x="7461504" y="3877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182880" y="4261104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286000" y="4261104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389120" y="4261104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5394960" y="4261104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400800" y="4261104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6" name="Shape 134"/>
          <p:cNvSpPr/>
          <p:nvPr/>
        </p:nvSpPr>
        <p:spPr>
          <a:xfrm>
            <a:off x="7406640" y="4261104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7" name="Text 135"/>
          <p:cNvSpPr/>
          <p:nvPr/>
        </p:nvSpPr>
        <p:spPr>
          <a:xfrm>
            <a:off x="237744" y="4261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Profiles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2340864" y="42611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9" name="Text 137"/>
          <p:cNvSpPr/>
          <p:nvPr/>
        </p:nvSpPr>
        <p:spPr>
          <a:xfrm>
            <a:off x="3438144" y="4261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0" name="Text 138"/>
          <p:cNvSpPr/>
          <p:nvPr/>
        </p:nvSpPr>
        <p:spPr>
          <a:xfrm>
            <a:off x="4443984" y="4261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1" name="Text 139"/>
          <p:cNvSpPr/>
          <p:nvPr/>
        </p:nvSpPr>
        <p:spPr>
          <a:xfrm>
            <a:off x="5449824" y="4261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42" name="Text 140"/>
          <p:cNvSpPr/>
          <p:nvPr/>
        </p:nvSpPr>
        <p:spPr>
          <a:xfrm>
            <a:off x="6455664" y="4261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43" name="Text 141"/>
          <p:cNvSpPr/>
          <p:nvPr/>
        </p:nvSpPr>
        <p:spPr>
          <a:xfrm>
            <a:off x="7461504" y="42611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182880" y="4645152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286000" y="4645152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46" name="Shape 144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389120" y="4645152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5394960" y="4645152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400800" y="4645152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406640" y="4645152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51" name="Text 149"/>
          <p:cNvSpPr/>
          <p:nvPr/>
        </p:nvSpPr>
        <p:spPr>
          <a:xfrm>
            <a:off x="237744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Analytics Dashboard</a:t>
            </a:r>
            <a:endParaRPr lang="en-US" sz="950" dirty="0"/>
          </a:p>
        </p:txBody>
      </p:sp>
      <p:sp>
        <p:nvSpPr>
          <p:cNvPr id="152" name="Text 150"/>
          <p:cNvSpPr/>
          <p:nvPr/>
        </p:nvSpPr>
        <p:spPr>
          <a:xfrm>
            <a:off x="2340864" y="464515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3" name="Text 151"/>
          <p:cNvSpPr/>
          <p:nvPr/>
        </p:nvSpPr>
        <p:spPr>
          <a:xfrm>
            <a:off x="3438144" y="4645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54" name="Text 152"/>
          <p:cNvSpPr/>
          <p:nvPr/>
        </p:nvSpPr>
        <p:spPr>
          <a:xfrm>
            <a:off x="4443984" y="4645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5" name="Text 153"/>
          <p:cNvSpPr/>
          <p:nvPr/>
        </p:nvSpPr>
        <p:spPr>
          <a:xfrm>
            <a:off x="5449824" y="4645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6" name="Text 154"/>
          <p:cNvSpPr/>
          <p:nvPr/>
        </p:nvSpPr>
        <p:spPr>
          <a:xfrm>
            <a:off x="6455664" y="4645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57" name="Text 155"/>
          <p:cNvSpPr/>
          <p:nvPr/>
        </p:nvSpPr>
        <p:spPr>
          <a:xfrm>
            <a:off x="7461504" y="46451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8" name="Shape 156"/>
          <p:cNvSpPr/>
          <p:nvPr/>
        </p:nvSpPr>
        <p:spPr>
          <a:xfrm>
            <a:off x="182880" y="5029200"/>
            <a:ext cx="210312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59" name="Shape 157"/>
          <p:cNvSpPr/>
          <p:nvPr/>
        </p:nvSpPr>
        <p:spPr>
          <a:xfrm>
            <a:off x="2286000" y="5029200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60" name="Shape 158"/>
          <p:cNvSpPr/>
          <p:nvPr/>
        </p:nvSpPr>
        <p:spPr>
          <a:xfrm>
            <a:off x="3383280" y="502920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389120" y="502920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62" name="Shape 160"/>
          <p:cNvSpPr/>
          <p:nvPr/>
        </p:nvSpPr>
        <p:spPr>
          <a:xfrm>
            <a:off x="5394960" y="502920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63" name="Shape 161"/>
          <p:cNvSpPr/>
          <p:nvPr/>
        </p:nvSpPr>
        <p:spPr>
          <a:xfrm>
            <a:off x="6400800" y="502920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406640" y="5029200"/>
            <a:ext cx="1005840" cy="384048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65" name="Text 163"/>
          <p:cNvSpPr/>
          <p:nvPr/>
        </p:nvSpPr>
        <p:spPr>
          <a:xfrm>
            <a:off x="237744" y="5029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(Flutter)</a:t>
            </a:r>
            <a:endParaRPr lang="en-US" sz="950" dirty="0"/>
          </a:p>
        </p:txBody>
      </p:sp>
      <p:sp>
        <p:nvSpPr>
          <p:cNvPr id="166" name="Text 164"/>
          <p:cNvSpPr/>
          <p:nvPr/>
        </p:nvSpPr>
        <p:spPr>
          <a:xfrm>
            <a:off x="2340864" y="50292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7" name="Text 165"/>
          <p:cNvSpPr/>
          <p:nvPr/>
        </p:nvSpPr>
        <p:spPr>
          <a:xfrm>
            <a:off x="3438144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68" name="Text 166"/>
          <p:cNvSpPr/>
          <p:nvPr/>
        </p:nvSpPr>
        <p:spPr>
          <a:xfrm>
            <a:off x="4443984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69" name="Text 167"/>
          <p:cNvSpPr/>
          <p:nvPr/>
        </p:nvSpPr>
        <p:spPr>
          <a:xfrm>
            <a:off x="5449824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0" name="Text 168"/>
          <p:cNvSpPr/>
          <p:nvPr/>
        </p:nvSpPr>
        <p:spPr>
          <a:xfrm>
            <a:off x="6455664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1" name="Text 169"/>
          <p:cNvSpPr/>
          <p:nvPr/>
        </p:nvSpPr>
        <p:spPr>
          <a:xfrm>
            <a:off x="7461504" y="5029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72" name="Shape 170"/>
          <p:cNvSpPr/>
          <p:nvPr/>
        </p:nvSpPr>
        <p:spPr>
          <a:xfrm>
            <a:off x="182880" y="5413248"/>
            <a:ext cx="210312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3" name="Shape 171"/>
          <p:cNvSpPr/>
          <p:nvPr/>
        </p:nvSpPr>
        <p:spPr>
          <a:xfrm>
            <a:off x="2286000" y="5413248"/>
            <a:ext cx="1097280" cy="384048"/>
          </a:xfrm>
          <a:prstGeom prst="rect">
            <a:avLst/>
          </a:prstGeom>
          <a:solidFill>
            <a:srgbClr val="1D0E44"/>
          </a:solidFill>
          <a:ln/>
        </p:spPr>
      </p:sp>
      <p:sp>
        <p:nvSpPr>
          <p:cNvPr id="174" name="Shape 172"/>
          <p:cNvSpPr/>
          <p:nvPr/>
        </p:nvSpPr>
        <p:spPr>
          <a:xfrm>
            <a:off x="3383280" y="541324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389120" y="541324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6" name="Shape 174"/>
          <p:cNvSpPr/>
          <p:nvPr/>
        </p:nvSpPr>
        <p:spPr>
          <a:xfrm>
            <a:off x="5394960" y="541324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400800" y="541324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8" name="Shape 176"/>
          <p:cNvSpPr/>
          <p:nvPr/>
        </p:nvSpPr>
        <p:spPr>
          <a:xfrm>
            <a:off x="7406640" y="5413248"/>
            <a:ext cx="1005840" cy="384048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79" name="Text 177"/>
          <p:cNvSpPr/>
          <p:nvPr/>
        </p:nvSpPr>
        <p:spPr>
          <a:xfrm>
            <a:off x="237744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340864" y="54132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1" name="Text 179"/>
          <p:cNvSpPr/>
          <p:nvPr/>
        </p:nvSpPr>
        <p:spPr>
          <a:xfrm>
            <a:off x="3438144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82" name="Text 180"/>
          <p:cNvSpPr/>
          <p:nvPr/>
        </p:nvSpPr>
        <p:spPr>
          <a:xfrm>
            <a:off x="4443984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3" name="Text 181"/>
          <p:cNvSpPr/>
          <p:nvPr/>
        </p:nvSpPr>
        <p:spPr>
          <a:xfrm>
            <a:off x="5449824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4" name="Text 182"/>
          <p:cNvSpPr/>
          <p:nvPr/>
        </p:nvSpPr>
        <p:spPr>
          <a:xfrm>
            <a:off x="6455664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185" name="Text 183"/>
          <p:cNvSpPr/>
          <p:nvPr/>
        </p:nvSpPr>
        <p:spPr>
          <a:xfrm>
            <a:off x="7461504" y="54132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86" name="Text 184"/>
          <p:cNvSpPr/>
          <p:nvPr/>
        </p:nvSpPr>
        <p:spPr>
          <a:xfrm>
            <a:off x="274320" y="4800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Yes   ~ = Partial   ✗ = No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Brand-Side Pricing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389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4805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Influenzer's ₹5,000 lifetime fee is a fraction of every competitor — a massive acquisition advantage for D2C brands.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37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Subscription Pricing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234440"/>
            <a:ext cx="3931920" cy="5669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37760" y="1234440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074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74920" y="1554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Pro subscription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1325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₹499/mo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37760" y="1892808"/>
            <a:ext cx="3931920" cy="5669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1892808"/>
            <a:ext cx="54864" cy="566928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model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19842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937760" y="2551176"/>
            <a:ext cx="3931920" cy="5669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2551176"/>
            <a:ext cx="54864" cy="566928"/>
          </a:xfrm>
          <a:prstGeom prst="rect">
            <a:avLst/>
          </a:prstGeom>
          <a:solidFill>
            <a:srgbClr val="8B7BAD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74920" y="28712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Brand-only tool, no creator plan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0" y="2642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7B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N/A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937760" y="3209544"/>
            <a:ext cx="3931920" cy="5669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37760" y="320954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5074920" y="3300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7492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free tier for creators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0" y="3300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~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937760" y="3867912"/>
            <a:ext cx="3931920" cy="5669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937760" y="3867912"/>
            <a:ext cx="54864" cy="5669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7"/>
          <p:cNvSpPr/>
          <p:nvPr/>
        </p:nvSpPr>
        <p:spPr>
          <a:xfrm>
            <a:off x="507492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74920" y="4187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creators, paid for brands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772400" y="395935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 ~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4937760" y="4572000"/>
            <a:ext cx="3931920" cy="384048"/>
          </a:xfrm>
          <a:prstGeom prst="rect">
            <a:avLst/>
          </a:prstGeom>
          <a:solidFill>
            <a:srgbClr val="150B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29200" y="4572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Creator subscription at ₹499/mo creates recurring ARR. No direct Indian competitor monetizes creator-side at scale.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Gaps — Where Influenzer Wins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1645920" cy="36576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777240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" y="1344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Full-Stack Marketplace Exists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" y="1783080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is marketplace-like but Instagram-only. Qoruz is analytics only. No competitor offers the full loop — campaign → bid → chat → escrow → payout — in a single mobile app.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777240"/>
            <a:ext cx="2743200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1" name="Text 9"/>
          <p:cNvSpPr/>
          <p:nvPr/>
        </p:nvSpPr>
        <p:spPr>
          <a:xfrm>
            <a:off x="3300984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4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00984" y="1344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Monetization Untapped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00984" y="1783080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platform has cracked creator subscriptions. Influenzer's ₹499/mo Pro tier builds recurring revenue that every competitor ignores or gives away for free.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53912" y="777240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777240"/>
            <a:ext cx="27432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9144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81928" y="1344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Integration Missing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81928" y="1783080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(largest direct rival) is Instagram-only. Influenzer's YouTube + Instagram dual support is a real differentiator in the 2025 short-form video era.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2852928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852928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10896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Communication Absent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" y="3858768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competitors rely on WhatsApp or email. Influenzer's built-in real-time chat keeps all briefs, negotiations, and deliverable tracking in one place — cutting disputes.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72968" y="2852928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2852928"/>
            <a:ext cx="27432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3300984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00984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+ Affordable Pricing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00984" y="3858768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platforms cost ₹40K–₹2L/month. Qoruz is enterprise-only. Influenzer's ₹5,000 lifetime brand fee directly targets the 3,000+ underserved D2C startups.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53912" y="2852928"/>
            <a:ext cx="2743200" cy="1938528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53912" y="2852928"/>
            <a:ext cx="2743200" cy="54864"/>
          </a:xfrm>
          <a:prstGeom prst="rect">
            <a:avLst/>
          </a:prstGeom>
          <a:solidFill>
            <a:srgbClr val="9F67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81928" y="2990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F6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81928" y="341985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Creator Experience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81928" y="3858768"/>
            <a:ext cx="25146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are web-only or desktop-first. Influenzer's Flutter mobile app gives access to India's 750M+ smartphone users with a seamless native experience.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6459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7315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960120" cy="329184"/>
          </a:xfrm>
          <a:prstGeom prst="rect">
            <a:avLst/>
          </a:prstGeom>
          <a:solidFill>
            <a:srgbClr val="0D0A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72768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on YouTube integration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72768" y="130759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(biggest threat) is Instagram-only. Lock in YouTube creators before Influish expands. This is a 12-month window.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8595360" cy="73152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37360"/>
            <a:ext cx="54864" cy="731520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920240"/>
            <a:ext cx="960120" cy="329184"/>
          </a:xfrm>
          <a:prstGeom prst="rect">
            <a:avLst/>
          </a:prstGeom>
          <a:solidFill>
            <a:srgbClr val="0D0A1F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02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72768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D2C brands leaving agency models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72768" y="21305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Chtrbox's IPO &amp; expansion signals the agency model is commoditizing. Market to D2C brands that want self-serve control at ₹5K vs ₹50K+ for managed agencies.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6032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43200"/>
            <a:ext cx="960120" cy="329184"/>
          </a:xfrm>
          <a:prstGeom prst="rect">
            <a:avLst/>
          </a:prstGeom>
          <a:solidFill>
            <a:srgbClr val="0D0A1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72768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creator subscription flywheel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572768" y="295351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competitor has cracked creator monetization. ₹499/mo × 35K creators = ₹17.5Cr ARR by Year 3. Make creator Pro perks irresistible — verified badge, priority placement, analytics.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383280"/>
            <a:ext cx="8595360" cy="73152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8328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566160"/>
            <a:ext cx="960120" cy="329184"/>
          </a:xfrm>
          <a:prstGeom prst="rect">
            <a:avLst/>
          </a:prstGeom>
          <a:solidFill>
            <a:srgbClr val="0D0A1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72768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Influish platform expansion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572768" y="37764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is bootstrapped &amp; growing fast. If they add YouTube + messaging, the gap narrows. Track their product roadmap quarterly and ensure Influenzer ships AI matching before they do.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06240"/>
            <a:ext cx="8595360" cy="731520"/>
          </a:xfrm>
          <a:prstGeom prst="rect">
            <a:avLst/>
          </a:prstGeom>
          <a:solidFill>
            <a:srgbClr val="1A15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06240"/>
            <a:ext cx="54864" cy="731520"/>
          </a:xfrm>
          <a:prstGeom prst="rect">
            <a:avLst/>
          </a:prstGeom>
          <a:solidFill>
            <a:srgbClr val="8B7BAD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389120"/>
            <a:ext cx="960120" cy="329184"/>
          </a:xfrm>
          <a:prstGeom prst="rect">
            <a:avLst/>
          </a:prstGeom>
          <a:solidFill>
            <a:srgbClr val="0D0A1F"/>
          </a:solidFill>
          <a:ln w="12700">
            <a:solidFill>
              <a:srgbClr val="8B7B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891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72768" y="4297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compete on analytics depth with Qoruz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572768" y="45994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2D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Qoruz has 10 years and 7M+ profiles. Compete on marketplace completeness, mobile UX, and payment trust — not raw data. Partner with analytics players rather than fight them.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Verdict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 is the only India-first mobile marketplace that covers the complete brand-creator lifecycle.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19072"/>
            <a:ext cx="54864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874520"/>
            <a:ext cx="8412480" cy="512064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with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651760" y="1965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YouTube + Escrow + Chat + Creator Subscriptions in one app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459736"/>
            <a:ext cx="8412480" cy="512064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511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brand entry cost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5511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lifetime vs ₹60K–₹24L/yr for all competitors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44952"/>
            <a:ext cx="8412480" cy="512064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36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untapped revenue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3136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subscription model — zero Indian competitors have cracked this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8412480" cy="512064"/>
          </a:xfrm>
          <a:prstGeom prst="rect">
            <a:avLst/>
          </a:prstGeom>
          <a:solidFill>
            <a:srgbClr val="13102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721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to watch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37216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Influish — if they add YouTube and in-app messaging, the moat narrows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4215384"/>
            <a:ext cx="8412480" cy="512064"/>
          </a:xfrm>
          <a:prstGeom prst="rect">
            <a:avLst/>
          </a:prstGeom>
          <a:solidFill>
            <a:srgbClr val="1A153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306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opportunity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430682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D2C brands underserved by expensive agencies and enterprise SaaS tools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7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Influenzer  •  Competitor Analysis  •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Influenzer - Competitor Analysis</dc:title>
  <dc:subject>PptxGenJS Presentation</dc:subject>
  <dc:creator>PptxGenJS</dc:creator>
  <cp:lastModifiedBy>PptxGenJS</cp:lastModifiedBy>
  <cp:revision>1</cp:revision>
  <dcterms:created xsi:type="dcterms:W3CDTF">2026-03-25T14:44:59Z</dcterms:created>
  <dcterms:modified xsi:type="dcterms:W3CDTF">2026-03-25T14:44:59Z</dcterms:modified>
</cp:coreProperties>
</file>