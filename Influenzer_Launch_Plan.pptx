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Influenzer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Bootstrapped Launch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Current App State → Market Launch → First ₹1Cr ARR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572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423160"/>
            <a:ext cx="1572768" cy="1417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23160"/>
            <a:ext cx="1572768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2374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Ship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84832" y="2423160"/>
            <a:ext cx="1572768" cy="1417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84832" y="2423160"/>
            <a:ext cx="157276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176272" y="252374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76272" y="28346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76272" y="3218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03904" y="2423160"/>
            <a:ext cx="1572768" cy="1417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03904" y="2423160"/>
            <a:ext cx="1572768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3895344" y="252374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95344" y="28346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95344" y="3218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22976" y="2423160"/>
            <a:ext cx="1572768" cy="1417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22976" y="2423160"/>
            <a:ext cx="1572768" cy="54864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24" name="Text 22"/>
          <p:cNvSpPr/>
          <p:nvPr/>
        </p:nvSpPr>
        <p:spPr>
          <a:xfrm>
            <a:off x="5614416" y="252374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14416" y="28346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Launch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14416" y="3218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42048" y="2423160"/>
            <a:ext cx="1572768" cy="1417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2423160"/>
            <a:ext cx="1572768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7333488" y="252374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33488" y="28346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₹1Cr ARR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33488" y="3218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7–12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069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is ~72% production-ready. Core marketplace loop works end-to-end. 4 critical fixes needed before any user testing.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Influenzer  •  Bootstrapped Launch Plan  •  2025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App State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2801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68680"/>
            <a:ext cx="420624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0" y="960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71016"/>
            <a:ext cx="3931920" cy="128016"/>
          </a:xfrm>
          <a:prstGeom prst="rect">
            <a:avLst/>
          </a:prstGeom>
          <a:solidFill>
            <a:srgbClr val="222A40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271016"/>
            <a:ext cx="3145536" cy="1280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868680"/>
            <a:ext cx="420624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0" y="960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271016"/>
            <a:ext cx="3931920" cy="128016"/>
          </a:xfrm>
          <a:prstGeom prst="rect">
            <a:avLst/>
          </a:prstGeom>
          <a:solidFill>
            <a:srgbClr val="222A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271016"/>
            <a:ext cx="2830982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1673352"/>
            <a:ext cx="420624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(Razorpay)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0" y="1764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075688"/>
            <a:ext cx="3931920" cy="128016"/>
          </a:xfrm>
          <a:prstGeom prst="rect">
            <a:avLst/>
          </a:prstGeom>
          <a:solidFill>
            <a:srgbClr val="222A40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2075688"/>
            <a:ext cx="3342132" cy="1280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673352"/>
            <a:ext cx="420624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80960" y="1764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075688"/>
            <a:ext cx="3931920" cy="128016"/>
          </a:xfrm>
          <a:prstGeom prst="rect">
            <a:avLst/>
          </a:prstGeom>
          <a:solidFill>
            <a:srgbClr val="222A40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75688"/>
            <a:ext cx="3538728" cy="1280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2478024"/>
            <a:ext cx="420624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569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0" y="2569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2880360"/>
            <a:ext cx="3931920" cy="128016"/>
          </a:xfrm>
          <a:prstGeom prst="rect">
            <a:avLst/>
          </a:prstGeom>
          <a:solidFill>
            <a:srgbClr val="222A40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880360"/>
            <a:ext cx="3342132" cy="1280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2478024"/>
            <a:ext cx="420624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2569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Integration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80960" y="2569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2880360"/>
            <a:ext cx="3931920" cy="128016"/>
          </a:xfrm>
          <a:prstGeom prst="rect">
            <a:avLst/>
          </a:prstGeom>
          <a:solidFill>
            <a:srgbClr val="222A40"/>
          </a:solidFill>
          <a:ln/>
        </p:spPr>
      </p:sp>
      <p:sp>
        <p:nvSpPr>
          <p:cNvPr id="33" name="Shape 31"/>
          <p:cNvSpPr/>
          <p:nvPr/>
        </p:nvSpPr>
        <p:spPr>
          <a:xfrm>
            <a:off x="4892040" y="2880360"/>
            <a:ext cx="2752344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282696"/>
            <a:ext cx="420624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3374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Analytics/ROI Dashboard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00400" y="33741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3685032"/>
            <a:ext cx="3931920" cy="128016"/>
          </a:xfrm>
          <a:prstGeom prst="rect">
            <a:avLst/>
          </a:prstGeom>
          <a:solidFill>
            <a:srgbClr val="222A40"/>
          </a:solidFill>
          <a:ln/>
        </p:spPr>
      </p:sp>
      <p:sp>
        <p:nvSpPr>
          <p:cNvPr id="38" name="Shape 36"/>
          <p:cNvSpPr/>
          <p:nvPr/>
        </p:nvSpPr>
        <p:spPr>
          <a:xfrm>
            <a:off x="411480" y="3685032"/>
            <a:ext cx="589788" cy="12801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282696"/>
            <a:ext cx="420624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92040" y="3374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680960" y="33741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3685032"/>
            <a:ext cx="3931920" cy="128016"/>
          </a:xfrm>
          <a:prstGeom prst="rect">
            <a:avLst/>
          </a:prstGeom>
          <a:solidFill>
            <a:srgbClr val="222A40"/>
          </a:solidFill>
          <a:ln/>
        </p:spPr>
      </p:sp>
      <p:sp>
        <p:nvSpPr>
          <p:cNvPr id="43" name="Shape 41"/>
          <p:cNvSpPr/>
          <p:nvPr/>
        </p:nvSpPr>
        <p:spPr>
          <a:xfrm>
            <a:off x="4892040" y="3685032"/>
            <a:ext cx="196596" cy="12801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4" name="Shape 42"/>
          <p:cNvSpPr/>
          <p:nvPr/>
        </p:nvSpPr>
        <p:spPr>
          <a:xfrm>
            <a:off x="274320" y="4087368"/>
            <a:ext cx="420624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1480" y="4178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Player (Flutter)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00400" y="4178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4489704"/>
            <a:ext cx="3931920" cy="128016"/>
          </a:xfrm>
          <a:prstGeom prst="rect">
            <a:avLst/>
          </a:prstGeom>
          <a:solidFill>
            <a:srgbClr val="222A40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4489704"/>
            <a:ext cx="117957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4754880" y="4087368"/>
            <a:ext cx="420624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92040" y="4178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 Notifications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80960" y="4178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92040" y="4489704"/>
            <a:ext cx="3931920" cy="128016"/>
          </a:xfrm>
          <a:prstGeom prst="rect">
            <a:avLst/>
          </a:prstGeom>
          <a:solidFill>
            <a:srgbClr val="222A40"/>
          </a:solidFill>
          <a:ln/>
        </p:spPr>
      </p:sp>
      <p:sp>
        <p:nvSpPr>
          <p:cNvPr id="53" name="Shape 51"/>
          <p:cNvSpPr/>
          <p:nvPr/>
        </p:nvSpPr>
        <p:spPr>
          <a:xfrm>
            <a:off x="4892040" y="4489704"/>
            <a:ext cx="786384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marketplace loop (Campaign → Apply → Escrow → Deliver → Pay) is fully functional. Priority is fixing 4 critical blockers before beta.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80A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 &amp; Ship  —  Weeks 1–3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0" y="411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show this to any user until these 4 critical blockers are resolved.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206240" cy="18745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87552"/>
            <a:ext cx="420624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1097280"/>
            <a:ext cx="457200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Razorpay test key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21608" y="1115568"/>
            <a:ext cx="640080" cy="256032"/>
          </a:xfrm>
          <a:prstGeom prst="rect">
            <a:avLst/>
          </a:prstGeom>
          <a:solidFill>
            <a:srgbClr val="0B0F1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115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" y="14813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lib/core/network/payment_repository.dart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328" y="17190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live Razorpay account at razorpay.com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" y="197510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 live Key ID &amp; Secret from Dashboard → Settings → API Keys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8328" y="22311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Replace rzp_test_placeholder with live key via .env or Flutter --dart-define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8328" y="24871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Repeat for backend: RAZORPAY_KEY_ID in .env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987552"/>
            <a:ext cx="4206240" cy="18745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87552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4773168" y="1097280"/>
            <a:ext cx="457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video player TODO in Application Details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56448" y="1115568"/>
            <a:ext cx="640080" cy="256032"/>
          </a:xfrm>
          <a:prstGeom prst="rect">
            <a:avLst/>
          </a:prstGeom>
          <a:solidFill>
            <a:srgbClr val="0B0F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1115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73168" y="14813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lib/features/creator/presentation/application_details_screen.dart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73168" y="17190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chewie + video_player packages (already in pubspec.yaml)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73168" y="197510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Replace TODO placeholder with VideoPlayerWidget using the trial_video_url from proposal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3168" y="22311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loading state and error fallback (show link if no URL)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3168" y="24871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with a real YouTube/Instagram URL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2980944"/>
            <a:ext cx="4206240" cy="18745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2980944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3090672"/>
            <a:ext cx="457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31089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notification deep linking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21608" y="3108960"/>
            <a:ext cx="640080" cy="256032"/>
          </a:xfrm>
          <a:prstGeom prst="rect">
            <a:avLst/>
          </a:prstGeom>
          <a:solidFill>
            <a:srgbClr val="0B0F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21608" y="3108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8328" y="34747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lib/features/notifications/notification_service.dart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8328" y="37124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Map notification type → GoRouter route in the payload handler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8328" y="39684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Types to handle: NEW_PROPOSAL→/brand/proposals, PROPOSAL_APPROVED→/creator/applications, NEW_MESSAGE→/chat/room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8328" y="4224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each push type on real device (use Firebase Console to send test)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2980944"/>
            <a:ext cx="4206240" cy="18745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2980944"/>
            <a:ext cx="420624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4" name="Shape 42"/>
          <p:cNvSpPr/>
          <p:nvPr/>
        </p:nvSpPr>
        <p:spPr>
          <a:xfrm>
            <a:off x="4773168" y="3090672"/>
            <a:ext cx="457200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5" name="Text 43"/>
          <p:cNvSpPr/>
          <p:nvPr/>
        </p:nvSpPr>
        <p:spPr>
          <a:xfrm>
            <a:off x="477316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349240" y="31089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all production environment variables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156448" y="3108960"/>
            <a:ext cx="640080" cy="256032"/>
          </a:xfrm>
          <a:prstGeom prst="rect">
            <a:avLst/>
          </a:prstGeom>
          <a:solidFill>
            <a:srgbClr val="0B0F1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56448" y="3108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73168" y="34747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.env + GitHub Secrets + Flutter build config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73168" y="37124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Backend: DATABASE_URL, JWT_SECRET, RAZORPAY keys, GOOGLE_CLIENT_ID, Firebase credentials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73168" y="39684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Flutter: API base URL (your deployed backend), Razorpay live key, Firebase google-services.json / GoogleService-Info.plist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73168" y="4224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Update GitHub Actions deploy.yml secrets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73168" y="4480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a smoke test: register → create campaign → submit proposal → pay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Closed Beta  —  Month 1 &amp; 2  (Target: 30 creators + 10 brands)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recruit first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4069080" cy="10515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89888"/>
            <a:ext cx="54864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81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(30)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Micro-influencers 5K–100K followers in Fashion, Beauty, Tech, Food niches. Prioritize Instagram + YouTube dual presence. Find them via hashtag search #InstagramIndia, #YouTubeIndia.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4069080" cy="10515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60320"/>
            <a:ext cx="54864" cy="1051560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(10)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98094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founders you know personally, or from communities: DSP (D2C Startup Pakistan/India groups), Founders of India WhatsApp groups, Shopify India Discord. Focus on brands ₹10L–₹1Cr monthly revenue.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730752"/>
            <a:ext cx="4069080" cy="10515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30752"/>
            <a:ext cx="54864" cy="10515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22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Contacts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15137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2–3 small digital marketing agencies who manage influencer campaigns manually. Offer free brand accounts in exchange for running their first campaign through Influenzer.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9875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during beta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1389888"/>
            <a:ext cx="4251960" cy="62179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4813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1453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manually, 1-on-1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each beta user on WhatsApp/Zoom. Walk them through every screen. Don't automate this. Listen to every friction point.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103120"/>
            <a:ext cx="4251960" cy="62179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20640" y="2167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 real campaigns end-to-end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20640" y="2432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5 brands to post a real campaign. Get 5+ creators to apply. Force the full payment loop (even if ₹500 test amounts). Fix every bug you see.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816352"/>
            <a:ext cx="4251960" cy="62179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907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2064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feedback system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20640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WhatsApp group for beta creators + a separate one for brands. Check daily. Every complaint is a gift.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3529584"/>
            <a:ext cx="4251960" cy="62179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9160" y="36210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2064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these 3 KPIs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064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rate (% who complete profile), Proposal-to-application rate, and Payment completion rate. If any is below 50%, find out why.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4242816"/>
            <a:ext cx="4251960" cy="62179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09160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20640" y="4306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add new features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2064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only job in beta is to make the existing flow work perfectly. Resist the urge to build analytics or AI — fix bugs instead.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Get Your First 30 Creators &amp; 10 Brands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paid ads. 100% organic, direct outreach — the bootstrapped way.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15568"/>
            <a:ext cx="4251960" cy="181051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4251960" cy="54864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252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Instagram DM Campaign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Search #D2Cbrand, #IndianCreator, #InstagramIndia — find 50+ creators with 5K–100K followers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DM message template: "Hey [name], I'm building Influenzer — a platform for Indian creators to get paid properly for brand collabs. Looking for 30 beta creators to test it. Free for you, and I'll guarantee your first paid campaign. Interested?" 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Send 20 DMs/day. Expect 10–15% response rate = 2–3 beta signups/day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Follow up once after 3 days. Never more.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709160" y="1115568"/>
            <a:ext cx="4251960" cy="181051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15568"/>
            <a:ext cx="42519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2252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LinkedIn Outreach to D2C Founders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Search "D2C founder India", "DTC brand founder", "brand manager India" on LinkedIn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Connection request + note: "Hi [name], I'm the founder of Influenzer — India's first mobile-native influencer marketplace with built-in escrow payments. Would love to give you a free beta account."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Target: 10 meaningful conversations/week with brand-side prospects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846320" y="256032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Join groups: Indian D2C Community, Shark Tank India Founders Network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28600" y="3081528"/>
            <a:ext cx="4251960" cy="181051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081528"/>
            <a:ext cx="42519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1912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Communities &amp; WhatsApp Groups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 in: Indie Hackers, BnI, StartupIndia communities, IIM/IIT alumni WhatsApp groups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65760" y="38862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Reddit: r/IndiaBusiness, r/digitalnomad — share the problem you're solving, not the product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65760" y="420624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Leverage your personal network: ask 5 friends to each introduce you to 1 creator and 1 brand owner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65760" y="452628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Offer beta access as a gift — not a sales pitch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709160" y="3081528"/>
            <a:ext cx="4251960" cy="181051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081528"/>
            <a:ext cx="425196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1912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YouTube Creator Communities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56616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Comment thoughtfully on videos by small YouTubers (5K–50K subs) in India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846320" y="38862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Reach out: "Love your content on [topic]. I'm building something that helps Indian YouTubers get paid for brand deals without WhatsApp chaos."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846320" y="420624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Find creator Discord servers (Tech content creators, Cooking channel communities)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846320" y="452628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Offer: guaranteed first campaign intro + verified badge on platform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1A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Beta  —  Month 3 &amp; 4  (Target: 500 creators + 50 brands)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these features before opening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4160520" cy="8229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53312"/>
            <a:ext cx="54864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7"/>
          <p:cNvSpPr/>
          <p:nvPr/>
        </p:nvSpPr>
        <p:spPr>
          <a:xfrm>
            <a:off x="3886200" y="1490472"/>
            <a:ext cx="502920" cy="256032"/>
          </a:xfrm>
          <a:prstGeom prst="rect">
            <a:avLst/>
          </a:prstGeom>
          <a:solidFill>
            <a:srgbClr val="0A1A1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490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(basic)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views, proposals received, money spent/earned. Even simple totals are better than nothing. Use existing data from proposals + transactions tables.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60520" cy="8229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54864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Shape 13"/>
          <p:cNvSpPr/>
          <p:nvPr/>
        </p:nvSpPr>
        <p:spPr>
          <a:xfrm>
            <a:off x="3886200" y="2423160"/>
            <a:ext cx="502920" cy="256032"/>
          </a:xfrm>
          <a:prstGeom prst="rect">
            <a:avLst/>
          </a:prstGeom>
          <a:solidFill>
            <a:srgbClr val="0A1A1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4231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Attachment Support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688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creators to share deliverable links/images directly in chat. Remove the TODO placeholder and implement image picker + presigned S3 upload.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4160520" cy="8229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18688"/>
            <a:ext cx="54864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Shape 19"/>
          <p:cNvSpPr/>
          <p:nvPr/>
        </p:nvSpPr>
        <p:spPr>
          <a:xfrm>
            <a:off x="3886200" y="3355848"/>
            <a:ext cx="502920" cy="256032"/>
          </a:xfrm>
          <a:prstGeom prst="rect">
            <a:avLst/>
          </a:prstGeom>
          <a:solidFill>
            <a:srgbClr val="0A1A1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355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3101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Rate Card editing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621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creators set their per-post pricing. This is a key trust signal for brands making decisions. Already partially built — finish the update endpoint.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151376"/>
            <a:ext cx="4160520" cy="8229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51376"/>
            <a:ext cx="54864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Shape 25"/>
          <p:cNvSpPr/>
          <p:nvPr/>
        </p:nvSpPr>
        <p:spPr>
          <a:xfrm>
            <a:off x="3886200" y="4288536"/>
            <a:ext cx="502920" cy="256032"/>
          </a:xfrm>
          <a:prstGeom prst="rect">
            <a:avLst/>
          </a:prstGeom>
          <a:solidFill>
            <a:srgbClr val="0A1A1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42885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2428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(Sendgrid)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5537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email for key events: New campaign invite, Proposal approved, Payment received. Firebase push alone is not reliable on all Android devices.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actions during open beta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1353312"/>
            <a:ext cx="416052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14447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30368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 Product Hunt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30368" y="1682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for a Tuesday/Wednesday. Post in Indian startup communities 1 week before. Get 50 upvotes in first hour = front page visibility.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084832"/>
            <a:ext cx="416052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21762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30368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referral program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30368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creators an invite code. For every creator they refer who completes their first campaign, give them 1 month free Pro. Cost: ₹499 per referral.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2816352"/>
            <a:ext cx="416052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2907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30368" y="2880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 starts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30368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posts/week on LinkedIn: "The problem with Indian influencer marketing", "How we built escrow for creators". Target D2C founder audience.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3547872"/>
            <a:ext cx="416052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00600" y="36393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30368" y="3611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1–2 D2C communities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30368" y="3877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recommended tool for StartupIndia, IndiaStartupHub, or YourStory communities. Offer 3-month free Brand membership to community members.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4279392"/>
            <a:ext cx="416052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00600" y="43708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23036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collecting testimonials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30368" y="4608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successful campaign, DM both sides for a 2-line quote. Put it on your landing page, LinkedIn. Social proof is your cheapest ad.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0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Launch  —  Month 5 &amp; 6  (Turn on monetization)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checklist (must-have before going live)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100+ creators with complete profiles (portfolio, rate card, social stats linked)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7647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20+ active brand accounts with at least 1 campaign each posted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1762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5+ successful end-to-end paid campaigns with real money (₹5,000+ GMV each)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13533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2-minute explainer video of the app (screen recording + voiceover — DIY)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17647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Privacy Policy, Terms of Service, Refund Policy pages live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21762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Support channel set up (Intercom or simple WhatsApp business number)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8595360" cy="36576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78892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day &amp; week activities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182112"/>
            <a:ext cx="2788920" cy="1737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82112"/>
            <a:ext cx="2788920" cy="54864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611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on all personal social channels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84048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email to all beta users with launch message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84048" y="4251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to Product Hunt (if not done in Phase 2)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84048" y="4572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in 10 WhatsApp groups (startup, D2C, creator)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218688" y="3182112"/>
            <a:ext cx="2788920" cy="1737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3182112"/>
            <a:ext cx="2788920" cy="54864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24" name="Text 22"/>
          <p:cNvSpPr/>
          <p:nvPr/>
        </p:nvSpPr>
        <p:spPr>
          <a:xfrm>
            <a:off x="3328416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28416" y="3611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Pitch on LinkedIn with a founder's story post (personal journey)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328416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Reach out to YourStory, Inc42, Entrackr for a feature (send your pitch deck)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328416" y="4251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 50 new creators with launch offer (₹0 first month Pro)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328416" y="4572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a "first 100 brands free" campaign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163056" y="3182112"/>
            <a:ext cx="2788920" cy="1737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3182112"/>
            <a:ext cx="2788920" cy="54864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72784" y="3611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creator highlight series on LinkedIn/Instagram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272784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Respond to every single review/comment personally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6272784" y="4251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a virtual event: "How Indian creators can get paid better" (Zoom, 30 mins)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272784" y="4572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activation funnel daily; fix drop-offs immediately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1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 to ₹1Cr ARR  —  Month 7–12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to ₹1Cr ARR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1920240" cy="292608"/>
          </a:xfrm>
          <a:prstGeom prst="rect">
            <a:avLst/>
          </a:prstGeom>
          <a:solidFill>
            <a:srgbClr val="1B2035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298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Source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298448"/>
            <a:ext cx="1005840" cy="292608"/>
          </a:xfrm>
          <a:prstGeom prst="rect">
            <a:avLst/>
          </a:prstGeom>
          <a:solidFill>
            <a:srgbClr val="1B2035"/>
          </a:solidFill>
          <a:ln/>
        </p:spPr>
      </p:sp>
      <p:sp>
        <p:nvSpPr>
          <p:cNvPr id="10" name="Text 8"/>
          <p:cNvSpPr/>
          <p:nvPr/>
        </p:nvSpPr>
        <p:spPr>
          <a:xfrm>
            <a:off x="2340864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298448"/>
            <a:ext cx="822960" cy="292608"/>
          </a:xfrm>
          <a:prstGeom prst="rect">
            <a:avLst/>
          </a:prstGeom>
          <a:solidFill>
            <a:srgbClr val="1B2035"/>
          </a:solidFill>
          <a:ln/>
        </p:spPr>
      </p:sp>
      <p:sp>
        <p:nvSpPr>
          <p:cNvPr id="12" name="Text 10"/>
          <p:cNvSpPr/>
          <p:nvPr/>
        </p:nvSpPr>
        <p:spPr>
          <a:xfrm>
            <a:off x="3438144" y="12984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1298448"/>
            <a:ext cx="1143000" cy="292608"/>
          </a:xfrm>
          <a:prstGeom prst="rect">
            <a:avLst/>
          </a:prstGeom>
          <a:solidFill>
            <a:srgbClr val="1B2035"/>
          </a:solidFill>
          <a:ln/>
        </p:spPr>
      </p:sp>
      <p:sp>
        <p:nvSpPr>
          <p:cNvPr id="14" name="Text 12"/>
          <p:cNvSpPr/>
          <p:nvPr/>
        </p:nvSpPr>
        <p:spPr>
          <a:xfrm>
            <a:off x="4306824" y="1298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ARR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27632"/>
            <a:ext cx="5120640" cy="384048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1627632"/>
            <a:ext cx="54864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Pro (₹499/mo)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1691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active subscribers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1691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₹6.98L/mo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₹83.8L/yr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066544"/>
            <a:ext cx="5120640" cy="384048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066544"/>
            <a:ext cx="54864" cy="384048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130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Registrations (₹5,000)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2130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new brands/month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130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₹1.65L/mo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51960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₹19.8L/yr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505456"/>
            <a:ext cx="5120640" cy="384048"/>
          </a:xfrm>
          <a:prstGeom prst="rect">
            <a:avLst/>
          </a:prstGeom>
          <a:solidFill>
            <a:srgbClr val="12201A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2505456"/>
            <a:ext cx="54864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2569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 Month 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2569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25694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₹8.63L/mo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51960" y="2569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~₹1.03Cr/yr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32120" y="9144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tactics (₹0 or near-₹0 cost)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532120" y="1298448"/>
            <a:ext cx="338328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32120" y="1298448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referral flywheel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active creators refer 1 creator/month = 140 new creators/mo. Reward: 1 month free Pro.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32120" y="2048256"/>
            <a:ext cx="338328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32120" y="204825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0" y="21214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word-of-mouth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0" y="23957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brand that runs a successful campaign will tell their D2C network. Focus on results = free marketing.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32120" y="2798064"/>
            <a:ext cx="338328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32120" y="2798064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5669280" y="28712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strategy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69280" y="3145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"influencer marketing India", "find influencers for D2C brand". 2 blog posts/week from Month 5 onwards.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32120" y="3547872"/>
            <a:ext cx="338328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532120" y="3547872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5669280" y="36210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case study videos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669280" y="38953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videos (Reels/Shorts): "How [creator] got their first brand deal on Influenzer." Cost: free if creator makes it.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32120" y="4297680"/>
            <a:ext cx="338328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532120" y="4297680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0" y="43708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cold email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669280" y="46451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D2C brands from LinkedIn + Tracxn. Send 50 cold emails/day with specific insight on their brand's influencer opportunity.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Bootstrapped Budget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need to spend money on — and what you don't.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15568"/>
            <a:ext cx="2834640" cy="347472"/>
          </a:xfrm>
          <a:prstGeom prst="rect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(must-pay)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536192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536192"/>
            <a:ext cx="45720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16002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DB (PostgreSQL)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0" y="16002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₹0–₹800/mo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186537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handles early beta. Upgrade when &gt;10k rows.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2194560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194560"/>
            <a:ext cx="45720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22585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App Runner (backend)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03120" y="22585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~₹1,200/mo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" y="252374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always-on container hosting. Can reduce with spot.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852928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852928"/>
            <a:ext cx="45720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" y="2916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(push notif.)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03120" y="29169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" y="318211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plan is free for early scale.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3511296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511296"/>
            <a:ext cx="45720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" y="35753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(live account)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3575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per txn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" y="384048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costs on successful payments — aligned with GMV.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4169664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4169664"/>
            <a:ext cx="45720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" y="4233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SSL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03120" y="4233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₹800/yr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" y="449884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or Namecheap. SSL free via Cloudflare.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0" y="1115568"/>
            <a:ext cx="2834640" cy="347472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(use free tiers)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0" y="1536192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1536192"/>
            <a:ext cx="45720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3310128" y="16002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(email)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74920" y="16002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10128" y="186537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100 emails/day. Enough for 6+ months.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0" y="2194560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2194560"/>
            <a:ext cx="45720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2" name="Text 40"/>
          <p:cNvSpPr/>
          <p:nvPr/>
        </p:nvSpPr>
        <p:spPr>
          <a:xfrm>
            <a:off x="3310128" y="22585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(error tracking)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74920" y="22585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10128" y="252374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enough for early users.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0" y="2852928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0" y="2852928"/>
            <a:ext cx="45720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3310128" y="2916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(API testing)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074920" y="29169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10128" y="318211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individuals.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0" y="3511296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0" y="3511296"/>
            <a:ext cx="45720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Text 50"/>
          <p:cNvSpPr/>
          <p:nvPr/>
        </p:nvSpPr>
        <p:spPr>
          <a:xfrm>
            <a:off x="3310128" y="35753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(design)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074920" y="3575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10128" y="384048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for 3 projects.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0" y="4169664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00400" y="4169664"/>
            <a:ext cx="45720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7" name="Text 55"/>
          <p:cNvSpPr/>
          <p:nvPr/>
        </p:nvSpPr>
        <p:spPr>
          <a:xfrm>
            <a:off x="3310128" y="4233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Actions (CI/CD)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074920" y="4233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310128" y="449884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set up in your repo.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72200" y="1115568"/>
            <a:ext cx="2834640" cy="347472"/>
          </a:xfrm>
          <a:prstGeom prst="rect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263640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(don't spend here yet)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172200" y="1536192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72200" y="1536192"/>
            <a:ext cx="45720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4" name="Text 62"/>
          <p:cNvSpPr/>
          <p:nvPr/>
        </p:nvSpPr>
        <p:spPr>
          <a:xfrm>
            <a:off x="6281928" y="16002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(Google/Meta)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046720" y="16002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281928" y="186537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only until ₹5L MRR. Ads before PMF = burning cash.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172200" y="2194560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172200" y="2194560"/>
            <a:ext cx="45720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9" name="Text 67"/>
          <p:cNvSpPr/>
          <p:nvPr/>
        </p:nvSpPr>
        <p:spPr>
          <a:xfrm>
            <a:off x="6281928" y="22585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tools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046720" y="22585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81928" y="252374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Mixpanel, Intercom paid, Segment — manual analytics first.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172200" y="2852928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172200" y="2852928"/>
            <a:ext cx="45720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4" name="Text 72"/>
          <p:cNvSpPr/>
          <p:nvPr/>
        </p:nvSpPr>
        <p:spPr>
          <a:xfrm>
            <a:off x="6281928" y="2916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Office/co-working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046720" y="29169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281928" y="318211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home. Save this for Month 9+.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172200" y="3511296"/>
            <a:ext cx="283464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172200" y="3511296"/>
            <a:ext cx="45720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9" name="Text 77"/>
          <p:cNvSpPr/>
          <p:nvPr/>
        </p:nvSpPr>
        <p:spPr>
          <a:xfrm>
            <a:off x="6281928" y="35753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for features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8046720" y="3575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281928" y="384048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build what you and your co-founder can ship yourselves.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12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Total monthly burn: ~₹2,000–₹2,500/mo infra costs. Everything else is free or sweat equity. At ₹499 × 6 creator subscriptions, you cover your costs.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12-Month Bootstrapped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822960"/>
            <a:ext cx="1600200" cy="19202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16002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32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W1–W3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 Critical Bugs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1417320" cy="36576"/>
          </a:xfrm>
          <a:prstGeom prst="rec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121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0 users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65960" y="822960"/>
            <a:ext cx="1600200" cy="19202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822960"/>
            <a:ext cx="1600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932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12344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5740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10 creators, 3 brands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57400" y="2029968"/>
            <a:ext cx="1417320" cy="36576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057400" y="2121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1st real campaign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03320" y="822960"/>
            <a:ext cx="1600200" cy="19202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03320" y="822960"/>
            <a:ext cx="1600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932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12344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9476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creators, 10 brands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4760" y="2029968"/>
            <a:ext cx="1417320" cy="36576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2121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5 campaigns run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40680" y="822960"/>
            <a:ext cx="1600200" cy="19202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40680" y="822960"/>
            <a:ext cx="1600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932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2344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3212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Launch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32120" y="2029968"/>
            <a:ext cx="1417320" cy="36576"/>
          </a:xfrm>
          <a:prstGeom prst="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532120" y="2121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100 creators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78040" y="822960"/>
            <a:ext cx="1600200" cy="19202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78040" y="822960"/>
            <a:ext cx="1600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7269480" y="932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69480" y="12344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6948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Beta 500 creators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69480" y="2029968"/>
            <a:ext cx="1417320" cy="36576"/>
          </a:xfrm>
          <a:prstGeom prst="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269480" y="2121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50 brands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2907792"/>
            <a:ext cx="1600200" cy="19202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" y="2907792"/>
            <a:ext cx="1600200" cy="54864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3017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F6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" y="3319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0040" y="35478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Launch + Press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4114800"/>
            <a:ext cx="1417320" cy="36576"/>
          </a:xfrm>
          <a:prstGeom prst="rect">
            <a:avLst/>
          </a:prstGeom>
          <a:solidFill>
            <a:srgbClr val="9F67FF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4206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Turn on billing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965960" y="2907792"/>
            <a:ext cx="1600200" cy="19202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965960" y="2907792"/>
            <a:ext cx="1600200" cy="54864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48" name="Text 46"/>
          <p:cNvSpPr/>
          <p:nvPr/>
        </p:nvSpPr>
        <p:spPr>
          <a:xfrm>
            <a:off x="2057400" y="3017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F6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057400" y="3319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057400" y="35478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paying 100 creators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57400" y="4114800"/>
            <a:ext cx="1417320" cy="36576"/>
          </a:xfrm>
          <a:prstGeom prst="rect">
            <a:avLst/>
          </a:prstGeom>
          <a:solidFill>
            <a:srgbClr val="9F67FF">
              <a:alpha val="4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2057400" y="4206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₹49,900 MRR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703320" y="2907792"/>
            <a:ext cx="1600200" cy="19202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03320" y="2907792"/>
            <a:ext cx="1600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5" name="Text 53"/>
          <p:cNvSpPr/>
          <p:nvPr/>
        </p:nvSpPr>
        <p:spPr>
          <a:xfrm>
            <a:off x="3794760" y="3017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7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94760" y="3319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94760" y="35478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flywheel starts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794760" y="4114800"/>
            <a:ext cx="1417320" cy="36576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794760" y="4206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₹1.5L MRR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40680" y="2907792"/>
            <a:ext cx="1600200" cy="19202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440680" y="2907792"/>
            <a:ext cx="1600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2" name="Text 60"/>
          <p:cNvSpPr/>
          <p:nvPr/>
        </p:nvSpPr>
        <p:spPr>
          <a:xfrm>
            <a:off x="5532120" y="3017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9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532120" y="3319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532120" y="35478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paid creators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532120" y="4114800"/>
            <a:ext cx="1417320" cy="36576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5532120" y="4206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₹2.5L MRR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178040" y="2907792"/>
            <a:ext cx="1600200" cy="19202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178040" y="2907792"/>
            <a:ext cx="1600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9" name="Text 67"/>
          <p:cNvSpPr/>
          <p:nvPr/>
        </p:nvSpPr>
        <p:spPr>
          <a:xfrm>
            <a:off x="7269480" y="3017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12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269480" y="3319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269480" y="35478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paid creators + 33 brands/mo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269480" y="4114800"/>
            <a:ext cx="1417320" cy="36576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7269480" y="4206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₹8.6L MRR = ₹1Cr ARR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Only Thing That Matters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founder checklist for the next 90 days.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90472"/>
            <a:ext cx="4572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664208"/>
            <a:ext cx="850392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54864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373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 5 real paid campaigns in 60 days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200253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signups. Not profiles. Not demo requests. Five campaigns where real INR moved through escrow. That's your proof of life.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850392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22576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3 users every single week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26609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them. Not email, not form. Voice calls. Ask: "What almost made you give up using this?" The answers will tell you exactly what to fix.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850392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80944"/>
            <a:ext cx="54864" cy="566928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540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F6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054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something every Friday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51560" y="331927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 fix, one UX improvement, one new feature. Every week. Show users the product is alive. Silence is the fastest way to lose early adopters.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50392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39312"/>
            <a:ext cx="54864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1246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712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pitch investors until Month 6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51560" y="397764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₹5L–₹10L MRR and 5+ case studies before any investor conversation matters. Build that first. The deck is ready — now fill it with real numbers.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8503920" cy="56692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297680"/>
            <a:ext cx="54864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3708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city first: Bengaluru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51560" y="463600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highest density of D2C brands AND creators per sq km. Dominate one city, build your case studies, then expand. Don't try to be pan-India on Day 1.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Influenzer — Bootstrapped Launch Plan</dc:title>
  <dc:subject>PptxGenJS Presentation</dc:subject>
  <dc:creator>PptxGenJS</dc:creator>
  <cp:lastModifiedBy>PptxGenJS</cp:lastModifiedBy>
  <cp:revision>1</cp:revision>
  <dcterms:created xsi:type="dcterms:W3CDTF">2026-03-25T15:08:29Z</dcterms:created>
  <dcterms:modified xsi:type="dcterms:W3CDTF">2026-03-25T15:08:29Z</dcterms:modified>
</cp:coreProperties>
</file>